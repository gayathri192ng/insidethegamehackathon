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E5AC8"/>
                </a:solidFill>
                <a:latin typeface="Segoe UI"/>
              </a:rPr>
              <a:t>🧠  MATCHVERSE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0B2E59"/>
                </a:solidFill>
                <a:latin typeface="Segoe UI"/>
              </a:rPr>
              <a:t>Every Match Has Multiple Realities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4B5563"/>
                </a:solidFill>
                <a:latin typeface="Segoe UI"/>
              </a:rPr>
              <a:t>Explain the decision. Explore the alternative. Measure the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E5AC8"/>
                </a:solidFill>
                <a:latin typeface="Segoe UI"/>
              </a:rPr>
              <a:t>Powered by RefSight Decision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Segoe UI"/>
              </a:rPr>
              <a:t>Project Submission  ·  MatchVerse AI Demo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309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i="0">
                <a:solidFill>
                  <a:srgbClr val="0B2E59"/>
                </a:solidFill>
                <a:latin typeface="Segoe UI"/>
              </a:rPr>
              <a:t>Done by Gayathri Nagarajan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One Decision. A Thousand Opinions.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4B5563"/>
                </a:solidFill>
                <a:latin typeface="Segoe UI"/>
              </a:rPr>
              <a:t>●  Contested officiating decisions dominate post-match conversation, with no shared source of truth.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B5563"/>
                </a:solidFill>
                <a:latin typeface="Segoe UI"/>
              </a:rPr>
              <a:t>●  Fans, analysts, and broadcasters all ask "what if?" — but rarely get a data-backed answer.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B5563"/>
                </a:solidFill>
                <a:latin typeface="Segoe UI"/>
              </a:rPr>
              <a:t>●  Existing review systems explain the rule, but not the ripple effect on the match outcome.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4B5563"/>
                </a:solidFill>
                <a:latin typeface="Segoe UI"/>
              </a:rPr>
              <a:t>●  Trust in officiating erodes when decisions feel opaque, even when they are correct.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920240"/>
            <a:ext cx="3931920" cy="384048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1488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5AC8"/>
                </a:solidFill>
                <a:latin typeface="Segoe U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06040"/>
            <a:ext cx="3383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B2E59"/>
                </a:solidFill>
                <a:latin typeface="Segoe UI"/>
              </a:rPr>
              <a:t>A single offside call can swing a match from a draw to a win — yet audiences never see that probability shift explained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Segoe UI"/>
              </a:rPr>
              <a:t>MatchVerse AI · RefSight Decision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7A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MatchVerse AI — Decision Intelligence for Every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Segoe UI"/>
              </a:rPr>
              <a:t>A web experience that turns every contested decision into a clear, data-grounded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3429000" cy="31089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3429000" cy="73152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Observed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9260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What actually happened — the real decision, confidence score, and evidence margin.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468880"/>
            <a:ext cx="3429000" cy="31089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2468880"/>
            <a:ext cx="3429000" cy="73152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7432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Alternative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37560"/>
            <a:ext cx="29260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What would have happened if the call had gone the other way, modeled with win/draw probabilities.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3429000" cy="31089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468880"/>
            <a:ext cx="3429000" cy="73152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Tactical Alternative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37560"/>
            <a:ext cx="29260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How a different in-match decision (e.g. a substitution) could have reshaped the 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Segoe UI"/>
              </a:rPr>
              <a:t>MatchVerse AI · RefSight Decision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7A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Four Modules, One Decision Intelligence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82296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5564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MatchVerse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8308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Live key-moment timeline with goal, penalty, card and validation reviews.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70048"/>
            <a:ext cx="502920" cy="82296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8833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Decision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15768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RefSight evidence breakdown: confidence score, positional margin, match state.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02736"/>
            <a:ext cx="502920" cy="82296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6732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2102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Reality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48456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Side-by-side scenario modeling of observed vs. alternative match outcomes.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35424"/>
            <a:ext cx="502920" cy="82296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700016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537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Match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81144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Audience- and language-aware narrative generation for fans, analysts, broadcasters.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68112"/>
            <a:ext cx="502920" cy="82296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63270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Integrity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513832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Segoe UI"/>
              </a:rPr>
              <a:t>Evidence-tamper simulation and baseline restore to demonstrate auditability.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Segoe UI"/>
              </a:rPr>
              <a:t>MatchVerse AI · RefSight Decision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7A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From Raw Evidence to Audience-Ready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103120" cy="118872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Select Key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880360"/>
            <a:ext cx="320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1E5AC8"/>
                </a:solidFill>
                <a:latin typeface="Segoe UI"/>
              </a:rPr>
              <a:t>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743200"/>
            <a:ext cx="2103120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31089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RefSight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880360"/>
            <a:ext cx="320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1E5AC8"/>
                </a:solidFill>
                <a:latin typeface="Segoe UI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743200"/>
            <a:ext cx="2103120" cy="118872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0" y="31089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Model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880360"/>
            <a:ext cx="320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1E5AC8"/>
                </a:solidFill>
                <a:latin typeface="Segoe UI"/>
              </a:rPr>
              <a:t>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743200"/>
            <a:ext cx="2103120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31089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Measure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880360"/>
            <a:ext cx="320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1E5AC8"/>
                </a:solidFill>
                <a:latin typeface="Segoe UI"/>
              </a:rPr>
              <a:t>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743200"/>
            <a:ext cx="2103120" cy="1188720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0" y="31089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Tell the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Segoe UI"/>
              </a:rPr>
              <a:t>Each stage is transparent and explainable — decisions are never a black box. Probability changes are modelled estimates for decision exploration; human review remains authoritative.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Segoe UI"/>
              </a:rPr>
              <a:t>MatchVerse AI · RefSight Decision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7A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TECH STACK &amp; 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Today's Demo vs. the Production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57800" cy="40233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57800" cy="73152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2E59"/>
                </a:solidFill>
                <a:latin typeface="Segoe UI"/>
              </a:rPr>
              <a:t>TODAY — DEMO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Pure HTML5, CSS3 and vanilla JavaScript — zero frameworks, runs in any browser.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No backend/server: served as static files (e.g. a local Python http.server).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Decisions, confidence scores and outcome probabilities are scripted demo data, illustrating the product experience end to end.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MatchVerse Copilot answers are pre-written text, not a live model 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57800" cy="40233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57800" cy="73152"/>
          </a:xfrm>
          <a:prstGeom prst="rect">
            <a:avLst/>
          </a:prstGeom>
          <a:solidFill>
            <a:srgbClr val="1E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2E59"/>
                </a:solidFill>
                <a:latin typeface="Segoe UI"/>
              </a:rPr>
              <a:t>ROADMAP — PRODUCTION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Computer-vision event detection on broadcast video (offside lines, contact, ball tracking).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Probabilistic / ML win-draw-loss models trained on historical match data.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NLG service to generate the audience-specific Match Story narratives.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4B5563"/>
                </a:solidFill>
                <a:latin typeface="Segoe UI"/>
              </a:rPr>
              <a:t>●  API + data layer connecting live match feeds to the existing front-end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Segoe UI"/>
              </a:rPr>
              <a:t>MatchVerse AI · RefSight Decision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7A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LIVE DEMO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78:14 · Goal Review — North City 1 : 1 Red Borough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5912" cy="77724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DECISION: OFFSIDE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Segoe UI"/>
              </a:rPr>
              <a:t>CONFIDENCE: 97.4%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74519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MARGIN: 12 cm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3429000" cy="274320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5AC8"/>
                </a:solidFill>
                <a:latin typeface="Segoe UI"/>
              </a:rPr>
              <a:t>OBSERVED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Goal disallowed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5AC8"/>
                </a:solidFill>
                <a:latin typeface="Segoe UI"/>
              </a:rPr>
              <a:t>1 –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Segoe UI"/>
              </a:rPr>
              <a:t>Draw probability 41%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834640"/>
            <a:ext cx="3429000" cy="274320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5AC8"/>
                </a:solidFill>
                <a:latin typeface="Segoe UI"/>
              </a:rPr>
              <a:t>ALTERNATIVE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29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Goal awarded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93192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5AC8"/>
                </a:solidFill>
                <a:latin typeface="Segoe UI"/>
              </a:rPr>
              <a:t>2 –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Segoe UI"/>
              </a:rPr>
              <a:t>Home-win probability 62%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834640"/>
            <a:ext cx="3429000" cy="274320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30175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5AC8"/>
                </a:solidFill>
                <a:latin typeface="Segoe UI"/>
              </a:rPr>
              <a:t>TACTICAL ALT.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429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Earlier substitution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5AC8"/>
                </a:solidFill>
                <a:latin typeface="Segoe UI"/>
              </a:rPr>
              <a:t>3 –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66344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Segoe UI"/>
              </a:rPr>
              <a:t>Home-win probability 71%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Segoe UI"/>
              </a:rPr>
              <a:t>MatchVerse AI · RefSight Decision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7A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Segoe UI"/>
              </a:rPr>
              <a:t>AUDIENCE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One Engine, Every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29000" cy="210312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Casual Fan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Segoe UI"/>
              </a:rPr>
              <a:t>Simple, story-driven explanations of what the decision meant for the match.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828800"/>
            <a:ext cx="3429000" cy="210312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057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Segoe UI"/>
              </a:rPr>
              <a:t>Deeper statistical breakdowns, confidence scores, and scenario probabilities.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3429000" cy="210312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057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B2E59"/>
                </a:solidFill>
                <a:latin typeface="Segoe UI"/>
              </a:rPr>
              <a:t>Broadcaster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6032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Segoe UI"/>
              </a:rPr>
              <a:t>Ready-to-air narrative framing, multi-language support for global audiences.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4B5563"/>
                </a:solidFill>
                <a:latin typeface="Segoe UI"/>
              </a:rPr>
              <a:t>●  Builds trust through transparency — every call is explainable, not just enforced.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B5563"/>
                </a:solidFill>
                <a:latin typeface="Segoe UI"/>
              </a:rPr>
              <a:t>●  Increases fan engagement with interactive, data-backed storytelling.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B5563"/>
                </a:solidFill>
                <a:latin typeface="Segoe UI"/>
              </a:rPr>
              <a:t>●  Strengthens officiating integrity with tamper-evident evidence auditing.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Segoe UI"/>
              </a:rPr>
              <a:t>MatchVerse AI · RefSight Decision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7A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MATCHVERSE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Segoe UI"/>
              </a:rPr>
              <a:t>Explain decisions · Explore alternatives · Understand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Thank you —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9C6DA"/>
                </a:solidFill>
                <a:latin typeface="Segoe UI"/>
              </a:rPr>
              <a:t>Probability changes are modelled estimates for decision exploration. Human review remains authoritative.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727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Nagarajan, Gayathri (Gayathri)</cp:lastModifiedBy>
  <cp:revision>2</cp:revision>
  <dcterms:created xsi:type="dcterms:W3CDTF">2013-01-27T09:14:16Z</dcterms:created>
  <dcterms:modified xsi:type="dcterms:W3CDTF">2026-10-27T13:56:17Z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0863694-f32f-438d-9129-d3c757528692_Enabled">
    <vt:lpwstr>true</vt:lpwstr>
  </property>
  <property fmtid="{D5CDD505-2E9C-101B-9397-08002B2CF9AE}" pid="3" name="MSIP_Label_20863694-f32f-438d-9129-d3c757528692_SetDate">
    <vt:lpwstr>2026-10-27T13:56:07Z</vt:lpwstr>
  </property>
  <property fmtid="{D5CDD505-2E9C-101B-9397-08002B2CF9AE}" pid="4" name="MSIP_Label_20863694-f32f-438d-9129-d3c757528692_Method">
    <vt:lpwstr>Standard</vt:lpwstr>
  </property>
  <property fmtid="{D5CDD505-2E9C-101B-9397-08002B2CF9AE}" pid="5" name="MSIP_Label_20863694-f32f-438d-9129-d3c757528692_Name">
    <vt:lpwstr>Internal</vt:lpwstr>
  </property>
  <property fmtid="{D5CDD505-2E9C-101B-9397-08002B2CF9AE}" pid="6" name="MSIP_Label_20863694-f32f-438d-9129-d3c757528692_SiteId">
    <vt:lpwstr>330a8b8c-66ba-485c-bddd-3beeb7f55fe8</vt:lpwstr>
  </property>
  <property fmtid="{D5CDD505-2E9C-101B-9397-08002B2CF9AE}" pid="7" name="MSIP_Label_20863694-f32f-438d-9129-d3c757528692_ActionId">
    <vt:lpwstr>8e18928f-e5ba-4f3a-9274-1323b554645e</vt:lpwstr>
  </property>
  <property fmtid="{D5CDD505-2E9C-101B-9397-08002B2CF9AE}" pid="8" name="MSIP_Label_20863694-f32f-438d-9129-d3c757528692_ContentBits">
    <vt:lpwstr>0</vt:lpwstr>
  </property>
  <property fmtid="{D5CDD505-2E9C-101B-9397-08002B2CF9AE}" pid="9" name="MSIP_Label_20863694-f32f-438d-9129-d3c757528692_Tag">
    <vt:lpwstr>10, 3, 0, 1</vt:lpwstr>
  </property>
</Properties>
</file>